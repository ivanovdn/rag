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1C4E6-B32B-9A4E-88CA-6563F9555213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8F66C-A1EA-864B-85A8-D92C5A3EB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bot is the only entry point (no public API). It polls Microsoft Teams, classifies each message, and only real in-scope questions reach the RAG pipeline. Every answer cites approved policy; anything that can't be grounded is escalated to Compliance. All heavy models and the vector database run on a dedicated GPU box (Spark); the bot connects out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Left: what happens the moment a question comes in. Right: a one-time/occasional batch job that loads approved policies into the searchable database. Bottom: the design choices that make the bot trustworthy for compliance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Calibri"/>
              </a:rPr>
              <a:t>End-to-end architecture</a:t>
            </a:r>
          </a:p>
          <a:p>
            <a:r>
              <a:rPr sz="1150" dirty="0">
                <a:solidFill>
                  <a:srgbClr val="C7D2E5"/>
                </a:solidFill>
                <a:latin typeface="Calibri"/>
              </a:rPr>
              <a:t>One employee question, from Microsoft Teams to a policy-grounded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288036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300" b="1">
                <a:solidFill>
                  <a:srgbClr val="1E3A8A"/>
                </a:solidFill>
                <a:latin typeface="Calibri"/>
              </a:rPr>
              <a:t>Employee</a:t>
            </a:r>
          </a:p>
          <a:p>
            <a:pPr algn="ctr"/>
            <a:r>
              <a:rPr sz="1050" b="0">
                <a:solidFill>
                  <a:srgbClr val="1E3A8A"/>
                </a:solidFill>
                <a:latin typeface="Calibri"/>
              </a:rPr>
              <a:t>Microsoft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1188720"/>
            <a:ext cx="5806440" cy="489204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1261872"/>
            <a:ext cx="5532120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050" b="1" i="0">
                <a:solidFill>
                  <a:srgbClr val="4B5563"/>
                </a:solidFill>
                <a:latin typeface="Calibri"/>
              </a:rPr>
              <a:t>COMPLIANCE BOT  ·  DOCKER ON LINUX 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45920"/>
            <a:ext cx="5349240" cy="566928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50" b="1">
                <a:solidFill>
                  <a:srgbClr val="0F766E"/>
                </a:solidFill>
                <a:latin typeface="Calibri"/>
              </a:rPr>
              <a:t>1 · Message poller</a:t>
            </a:r>
          </a:p>
          <a:p>
            <a:pPr algn="ctr"/>
            <a:r>
              <a:rPr sz="850" b="0">
                <a:solidFill>
                  <a:srgbClr val="0F766E"/>
                </a:solidFill>
                <a:latin typeface="Calibri"/>
              </a:rPr>
              <a:t>polls Graph /me/chats every 5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77440"/>
            <a:ext cx="5349240" cy="603504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50" b="1">
                <a:solidFill>
                  <a:srgbClr val="B45309"/>
                </a:solidFill>
                <a:latin typeface="Calibri"/>
              </a:rPr>
              <a:t>2 · Router — intent classifier (LLM, temp 0)</a:t>
            </a:r>
          </a:p>
          <a:p>
            <a:pPr algn="ctr"/>
            <a:r>
              <a:rPr sz="850" b="0">
                <a:solidFill>
                  <a:srgbClr val="B45309"/>
                </a:solidFill>
                <a:latin typeface="Calibri"/>
              </a:rPr>
              <a:t>greeting · in-scope · out-of-scope · unclear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145536"/>
            <a:ext cx="5349240" cy="859536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50" b="1">
                <a:solidFill>
                  <a:srgbClr val="6D28D9"/>
                </a:solidFill>
                <a:latin typeface="Calibri"/>
              </a:rPr>
              <a:t>3 · RAG agent — LlamaIndex AgentWorkflow (temp 0)</a:t>
            </a:r>
          </a:p>
          <a:p>
            <a:pPr algn="ctr"/>
            <a:r>
              <a:rPr sz="880" b="0">
                <a:solidFill>
                  <a:srgbClr val="6D28D9"/>
                </a:solidFill>
                <a:latin typeface="Calibri"/>
              </a:rPr>
              <a:t>Tools:  search_policies  ·  get_section  ·  escalate_to_compliance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169663"/>
            <a:ext cx="5349240" cy="566928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4338CA"/>
                </a:solidFill>
                <a:latin typeface="Calibri"/>
              </a:rPr>
              <a:t>4 · Retrieval — search_policies</a:t>
            </a:r>
          </a:p>
          <a:p>
            <a:pPr algn="ctr"/>
            <a:r>
              <a:rPr sz="880" b="0">
                <a:solidFill>
                  <a:srgbClr val="4338CA"/>
                </a:solidFill>
                <a:latin typeface="Calibri"/>
              </a:rPr>
              <a:t>embed  →  vector search  →  rerank  →  cite [Source 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901184"/>
            <a:ext cx="5349240" cy="56692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5 · Grounded answer with citations</a:t>
            </a:r>
          </a:p>
          <a:p>
            <a:pPr algn="ctr"/>
            <a:r>
              <a:rPr sz="850" b="0">
                <a:solidFill>
                  <a:srgbClr val="15803D"/>
                </a:solidFill>
                <a:latin typeface="Calibri"/>
              </a:rPr>
              <a:t>posted back to Teams  +  rating prompt (feedback)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84632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4B5563"/>
                </a:solidFill>
                <a:latin typeface="Calibri"/>
              </a:rPr>
              <a:t>Canned reply</a:t>
            </a:r>
          </a:p>
          <a:p>
            <a:pPr algn="ctr"/>
            <a:r>
              <a:rPr sz="800" b="0">
                <a:solidFill>
                  <a:srgbClr val="4B5563"/>
                </a:solidFill>
                <a:latin typeface="Calibri"/>
              </a:rPr>
              <a:t>greeting / out-of-scope / unclear — no search, no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188720"/>
            <a:ext cx="3154680" cy="393192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1261872"/>
            <a:ext cx="2880360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950" b="1" i="0">
                <a:solidFill>
                  <a:srgbClr val="4B5563"/>
                </a:solidFill>
                <a:latin typeface="Calibri"/>
              </a:rPr>
              <a:t>MODEL &amp; DATA SERVICES
NVIDIA Spark · 172.20.0.22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938528"/>
            <a:ext cx="2788920" cy="603504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LLM</a:t>
            </a:r>
          </a:p>
          <a:p>
            <a:pPr algn="ctr"/>
            <a:r>
              <a:rPr sz="850" b="0">
                <a:solidFill>
                  <a:srgbClr val="1E293B"/>
                </a:solidFill>
                <a:latin typeface="Calibri"/>
              </a:rPr>
              <a:t>Qwen3 · Ollama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615184"/>
            <a:ext cx="2788920" cy="603504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Embeddings</a:t>
            </a:r>
          </a:p>
          <a:p>
            <a:pPr algn="ctr"/>
            <a:r>
              <a:rPr sz="850" b="0">
                <a:solidFill>
                  <a:srgbClr val="1E293B"/>
                </a:solidFill>
                <a:latin typeface="Calibri"/>
              </a:rPr>
              <a:t>embeddinggemma · 768-d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291840"/>
            <a:ext cx="2788920" cy="603504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Reranker</a:t>
            </a:r>
          </a:p>
          <a:p>
            <a:pPr algn="ctr"/>
            <a:r>
              <a:rPr sz="850" b="0">
                <a:solidFill>
                  <a:srgbClr val="1E293B"/>
                </a:solidFill>
                <a:latin typeface="Calibri"/>
              </a:rPr>
              <a:t>Qwen3-Reranker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3968496"/>
            <a:ext cx="2788920" cy="603504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BE123C"/>
                </a:solidFill>
                <a:latin typeface="Calibri"/>
              </a:rPr>
              <a:t>Qdrant</a:t>
            </a:r>
          </a:p>
          <a:p>
            <a:pPr algn="ctr"/>
            <a:r>
              <a:rPr sz="850" b="0">
                <a:solidFill>
                  <a:srgbClr val="BE123C"/>
                </a:solidFill>
                <a:latin typeface="Calibri"/>
              </a:rPr>
              <a:t>policy vector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5440680"/>
            <a:ext cx="3154680" cy="65836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00" b="1">
                <a:solidFill>
                  <a:srgbClr val="B91C1C"/>
                </a:solidFill>
                <a:latin typeface="Calibri"/>
              </a:rPr>
              <a:t>Escalate to Compliance team</a:t>
            </a:r>
          </a:p>
          <a:p>
            <a:pPr algn="ctr"/>
            <a:r>
              <a:rPr sz="850" b="0">
                <a:solidFill>
                  <a:srgbClr val="B91C1C"/>
                </a:solidFill>
                <a:latin typeface="Calibri"/>
              </a:rPr>
              <a:t>with full question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6236208"/>
            <a:ext cx="11567160" cy="457200"/>
          </a:xfrm>
          <a:prstGeom prst="roundRect">
            <a:avLst>
              <a:gd name="adj" fmla="val 15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50" b="1">
                <a:solidFill>
                  <a:srgbClr val="475569"/>
                </a:solidFill>
                <a:latin typeface="Calibri"/>
              </a:rPr>
              <a:t>Phoenix observability — traces every step: router classification, retrieval, answers, feedback &amp; infra-unavailable events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103120" y="1965960"/>
            <a:ext cx="411480" cy="128016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37360" y="2331720"/>
            <a:ext cx="100584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800" b="1" i="0">
                <a:solidFill>
                  <a:srgbClr val="2563EB"/>
                </a:solidFill>
                <a:latin typeface="Calibri"/>
              </a:rPr>
              <a:t>asks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2212848"/>
            <a:ext cx="0" cy="16459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94960" y="2980944"/>
            <a:ext cx="0" cy="16459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0" y="2962656"/>
            <a:ext cx="1280160" cy="2194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00" b="1" i="0">
                <a:solidFill>
                  <a:srgbClr val="B45309"/>
                </a:solidFill>
                <a:latin typeface="Calibri"/>
              </a:rPr>
              <a:t>in-scope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94960" y="4005072"/>
            <a:ext cx="0" cy="164591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94960" y="4736592"/>
            <a:ext cx="0" cy="16459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371600" y="2834640"/>
            <a:ext cx="1371600" cy="2011680"/>
          </a:xfrm>
          <a:prstGeom prst="line">
            <a:avLst/>
          </a:prstGeom>
          <a:ln w="19050">
            <a:solidFill>
              <a:srgbClr val="9CA3A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07008" y="4041648"/>
            <a:ext cx="0" cy="804672"/>
          </a:xfrm>
          <a:prstGeom prst="line">
            <a:avLst/>
          </a:prstGeom>
          <a:ln w="19050">
            <a:solidFill>
              <a:srgbClr val="9CA3A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103120" y="3749039"/>
            <a:ext cx="594360" cy="1435609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17320" y="4160520"/>
            <a:ext cx="13716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800" b="1" i="0">
                <a:solidFill>
                  <a:srgbClr val="15803D"/>
                </a:solidFill>
                <a:latin typeface="Calibri"/>
              </a:rPr>
              <a:t>answer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21040" y="3154680"/>
            <a:ext cx="411480" cy="0"/>
          </a:xfrm>
          <a:prstGeom prst="line">
            <a:avLst/>
          </a:prstGeom>
          <a:ln w="349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01000" y="2331720"/>
            <a:ext cx="868680" cy="6400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800" b="1" i="0">
                <a:solidFill>
                  <a:srgbClr val="4B5563"/>
                </a:solidFill>
                <a:latin typeface="Calibri"/>
              </a:rPr>
              <a:t>model
calls +
search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21040" y="3931920"/>
            <a:ext cx="411480" cy="1645920"/>
          </a:xfrm>
          <a:prstGeom prst="line">
            <a:avLst/>
          </a:prstGeom>
          <a:ln w="22225">
            <a:solidFill>
              <a:srgbClr val="DC262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0" y="4892040"/>
            <a:ext cx="146304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Calibri"/>
              </a:rPr>
              <a:t>if not grounded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libri"/>
              </a:rPr>
              <a:t>Retrieval, ingestion &amp; guardrails</a:t>
            </a:r>
          </a:p>
          <a:p>
            <a:r>
              <a:rPr sz="1150">
                <a:solidFill>
                  <a:srgbClr val="C7D2E5"/>
                </a:solidFill>
                <a:latin typeface="Calibri"/>
              </a:rPr>
              <a:t>How policies get in, how answers get grounded, and what keeps answers 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400" b="1" i="0">
                <a:solidFill>
                  <a:srgbClr val="141E33"/>
                </a:solidFill>
                <a:latin typeface="Calibri"/>
              </a:rPr>
              <a:t>Answering a question  ·  retrieval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6D28D9"/>
                </a:solidFill>
                <a:latin typeface="Calibri"/>
              </a:rPr>
              <a:t>Employee question (in-scope)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95144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4338CA"/>
                </a:solidFill>
                <a:latin typeface="Calibri"/>
              </a:rPr>
              <a:t>Embed the query</a:t>
            </a:r>
          </a:p>
          <a:p>
            <a:pPr algn="ctr"/>
            <a:r>
              <a:rPr sz="800" b="0">
                <a:solidFill>
                  <a:srgbClr val="4338CA"/>
                </a:solidFill>
                <a:latin typeface="Calibri"/>
              </a:rPr>
              <a:t>embeddinggemma · 768-d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148840"/>
            <a:ext cx="0" cy="146304"/>
          </a:xfrm>
          <a:prstGeom prst="line">
            <a:avLst/>
          </a:prstGeom>
          <a:ln w="2032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990087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BE123C"/>
                </a:solidFill>
                <a:latin typeface="Calibri"/>
              </a:rPr>
              <a:t>Vector search in Qdrant</a:t>
            </a:r>
          </a:p>
          <a:p>
            <a:pPr algn="ctr"/>
            <a:r>
              <a:rPr sz="800" b="0">
                <a:solidFill>
                  <a:srgbClr val="BE123C"/>
                </a:solidFill>
                <a:latin typeface="Calibri"/>
              </a:rPr>
              <a:t>retrieve top-25 candidate clauses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843784"/>
            <a:ext cx="0" cy="146303"/>
          </a:xfrm>
          <a:prstGeom prst="line">
            <a:avLst/>
          </a:prstGeom>
          <a:ln w="2032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685031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1E293B"/>
                </a:solidFill>
                <a:latin typeface="Calibri"/>
              </a:rPr>
              <a:t>Rerank with Qwen3-Reranker</a:t>
            </a:r>
          </a:p>
          <a:p>
            <a:pPr algn="ctr"/>
            <a:r>
              <a:rPr sz="800" b="0">
                <a:solidFill>
                  <a:srgbClr val="1E293B"/>
                </a:solidFill>
                <a:latin typeface="Calibri"/>
              </a:rPr>
              <a:t>keep the 6 most relevant · BM25 keyword search currently OFF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3538727"/>
            <a:ext cx="0" cy="146304"/>
          </a:xfrm>
          <a:prstGeom prst="line">
            <a:avLst/>
          </a:prstGeom>
          <a:ln w="2032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4379975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4338CA"/>
                </a:solidFill>
                <a:latin typeface="Calibri"/>
              </a:rPr>
              <a:t>Format as [Source 1…N]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4233671"/>
            <a:ext cx="0" cy="146304"/>
          </a:xfrm>
          <a:prstGeom prst="line">
            <a:avLst/>
          </a:prstGeom>
          <a:ln w="2032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5074919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E0E7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15803D"/>
                </a:solidFill>
                <a:latin typeface="Calibri"/>
              </a:rPr>
              <a:t>Agent writes the answer</a:t>
            </a:r>
          </a:p>
          <a:p>
            <a:pPr algn="ctr"/>
            <a:r>
              <a:rPr sz="800" b="0">
                <a:solidFill>
                  <a:srgbClr val="15803D"/>
                </a:solidFill>
                <a:latin typeface="Calibri"/>
              </a:rPr>
              <a:t>citing ONLY the retrieved 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4928615"/>
            <a:ext cx="0" cy="146304"/>
          </a:xfrm>
          <a:prstGeom prst="line">
            <a:avLst/>
          </a:prstGeom>
          <a:ln w="2032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053328" y="1280160"/>
            <a:ext cx="9525" cy="41605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143000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400" b="1" i="0">
                <a:solidFill>
                  <a:srgbClr val="141E33"/>
                </a:solidFill>
                <a:latin typeface="Calibri"/>
              </a:rPr>
              <a:t>Loading the knowledge base  ·  ingestion (offline)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600200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Calibri"/>
              </a:rPr>
              <a:t>Approved policy .docx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368296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Calibri"/>
              </a:rPr>
              <a:t>Structure-aware parser</a:t>
            </a:r>
          </a:p>
          <a:p>
            <a:pPr algn="ctr"/>
            <a:r>
              <a:rPr sz="800" b="0">
                <a:solidFill>
                  <a:srgbClr val="0F766E"/>
                </a:solidFill>
                <a:latin typeface="Calibri"/>
              </a:rPr>
              <a:t>keeps headings &amp; Word clause numbering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52560" y="2148840"/>
            <a:ext cx="0" cy="219456"/>
          </a:xfrm>
          <a:prstGeom prst="line">
            <a:avLst/>
          </a:prstGeom>
          <a:ln w="2032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0" y="3136391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0F766E"/>
                </a:solidFill>
                <a:latin typeface="Calibri"/>
              </a:rPr>
              <a:t>Split into clause-level chunks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52560" y="2916936"/>
            <a:ext cx="0" cy="219455"/>
          </a:xfrm>
          <a:prstGeom prst="line">
            <a:avLst/>
          </a:prstGeom>
          <a:ln w="2032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83680" y="3904487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4338CA"/>
                </a:solidFill>
                <a:latin typeface="Calibri"/>
              </a:rPr>
              <a:t>Embed each chunk</a:t>
            </a:r>
          </a:p>
          <a:p>
            <a:pPr algn="ctr"/>
            <a:r>
              <a:rPr sz="800" b="0">
                <a:solidFill>
                  <a:srgbClr val="4338CA"/>
                </a:solidFill>
                <a:latin typeface="Calibri"/>
              </a:rPr>
              <a:t>embeddinggemma · 768-d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52560" y="3685031"/>
            <a:ext cx="0" cy="219456"/>
          </a:xfrm>
          <a:prstGeom prst="line">
            <a:avLst/>
          </a:prstGeom>
          <a:ln w="2032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0" y="4672583"/>
            <a:ext cx="4937760" cy="54864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50" b="1">
                <a:solidFill>
                  <a:srgbClr val="BE123C"/>
                </a:solidFill>
                <a:latin typeface="Calibri"/>
              </a:rPr>
              <a:t>Upsert into Qdrant vector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52560" y="4453127"/>
            <a:ext cx="0" cy="219456"/>
          </a:xfrm>
          <a:prstGeom prst="line">
            <a:avLst/>
          </a:prstGeom>
          <a:ln w="2032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580644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150" b="1">
                <a:solidFill>
                  <a:srgbClr val="141E33"/>
                </a:solidFill>
                <a:latin typeface="Calibri"/>
              </a:rPr>
              <a:t>Guardrails that keep answers safe</a:t>
            </a:r>
          </a:p>
          <a:p>
            <a:pPr algn="ctr"/>
            <a:r>
              <a:rPr sz="930" b="0">
                <a:solidFill>
                  <a:srgbClr val="4B5563"/>
                </a:solidFill>
                <a:latin typeface="Calibri"/>
              </a:rPr>
              <a:t>Temperature 0 → deterministic answers    ·    answers only from retrieved policy (no made-up citations)    ·    nothing relevant found → escalate to Compliance    ·    backend outage → auto-retry, then a clean “service temporarily unavailable” reply (never a wrong answer)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466</Words>
  <Application>Microsoft Macintosh PowerPoint</Application>
  <PresentationFormat>Widescreen</PresentationFormat>
  <Paragraphs>59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Dmytro Ivanov</cp:lastModifiedBy>
  <cp:revision>2</cp:revision>
  <dcterms:created xsi:type="dcterms:W3CDTF">2013-01-27T09:14:16Z</dcterms:created>
  <dcterms:modified xsi:type="dcterms:W3CDTF">2026-07-13T11:20:03Z</dcterms:modified>
  <cp:category/>
</cp:coreProperties>
</file>